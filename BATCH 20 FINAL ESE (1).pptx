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1.xml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1.xml><?xml version="1.0" encoding="utf-8"?>
<a:tblStyleLst xmlns:a="http://schemas.openxmlformats.org/drawingml/2006/main" xmlns:r="http://schemas.openxmlformats.org/officeDocument/2006/relationships" def="{90651C3A-4460-11DB-9652-00E08161165F}">
  <a:tblStyle styleId="{3CDD818E-ADFA-4579-856F-A3140DA02BD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BF1E8"/>
          </a:solidFill>
        </a:fill>
      </a:tcStyle>
    </a:wholeTbl>
    <a:band1H>
      <a:tcTxStyle/>
      <a:tcStyle>
        <a:tcBdr/>
        <a:fill>
          <a:solidFill>
            <a:srgbClr val="D4E2CE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4E2CE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6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6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1.xml"/><Relationship Id="rId3" Type="http://schemas.openxmlformats.org/officeDocument/2006/relationships/tableStyles" Target="tableStyles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0" name="Google Shape;13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158746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8" name="Google Shape;28;p2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2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0" name="Google Shape;30;p2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7" name="Google Shape;37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2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2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g"/><Relationship Id="rId3" Type="http://schemas.openxmlformats.org/officeDocument/2006/relationships/image" Target="../media/image4.png"/><Relationship Id="rId7" Type="http://schemas.openxmlformats.org/officeDocument/2006/relationships/image" Target="../media/image8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g"/><Relationship Id="rId5" Type="http://schemas.openxmlformats.org/officeDocument/2006/relationships/image" Target="../media/image6.jpg"/><Relationship Id="rId4" Type="http://schemas.openxmlformats.org/officeDocument/2006/relationships/image" Target="../media/image5.png"/><Relationship Id="rId9" Type="http://schemas.openxmlformats.org/officeDocument/2006/relationships/image" Target="../media/image10.jp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body" idx="1"/>
          </p:nvPr>
        </p:nvSpPr>
        <p:spPr>
          <a:xfrm>
            <a:off x="0" y="2342250"/>
            <a:ext cx="12119100" cy="41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US" sz="3600" b="1" dirty="0">
                <a:latin typeface="Arial Narrow"/>
                <a:ea typeface="Arial Narrow"/>
                <a:cs typeface="Times New Roman" panose="02020603050405020304" pitchFamily="18" charset="0"/>
                <a:sym typeface="Arial Narrow"/>
              </a:rPr>
              <a:t>DEPARTMENT OF  COMPUTER SCIENCE AND ENGINEERING</a:t>
            </a:r>
            <a:endParaRPr dirty="0">
              <a:latin typeface="Arial Narrow"/>
              <a:ea typeface="Arial Narrow"/>
              <a:cs typeface="Times New Roman" panose="02020603050405020304" pitchFamily="18" charset="0"/>
              <a:sym typeface="Arial Narrow"/>
            </a:endParaRPr>
          </a:p>
          <a:p>
            <a:pPr marL="0" lvl="0" indent="0" algn="ctr">
              <a:buSzPts val="3600"/>
              <a:buNone/>
            </a:pPr>
            <a:r>
              <a:rPr lang="en-US" b="1" dirty="0">
                <a:latin typeface="Arial Narrow"/>
                <a:ea typeface="Arial Narrow"/>
                <a:cs typeface="Times New Roman" panose="02020603050405020304" pitchFamily="18" charset="0"/>
                <a:sym typeface="Arial Narrow"/>
              </a:rPr>
              <a:t>20CS7503 &amp; DESIGN PROJECT 3</a:t>
            </a:r>
          </a:p>
          <a:p>
            <a:pPr marL="0" lvl="0" indent="0" algn="ctr">
              <a:buSzPts val="3600"/>
              <a:buNone/>
            </a:pPr>
            <a:endParaRPr lang="en-US" b="1" dirty="0">
              <a:latin typeface="Arial Narrow"/>
              <a:ea typeface="Arial Narrow"/>
              <a:cs typeface="Times New Roman" panose="02020603050405020304" pitchFamily="18" charset="0"/>
              <a:sym typeface="Arial Narrow"/>
            </a:endParaRPr>
          </a:p>
          <a:p>
            <a:pPr marL="0" lvl="0" indent="0" algn="ctr">
              <a:buSzPts val="3600"/>
              <a:buNone/>
            </a:pPr>
            <a:r>
              <a:rPr lang="en-US" b="1" dirty="0"/>
              <a:t>END SEMESTER PRACTICAL EXAMINATION- NOV / DEC 2025</a:t>
            </a:r>
            <a:endParaRPr lang="en-US" dirty="0"/>
          </a:p>
          <a:p>
            <a:pPr marL="0" lvl="0" indent="0" algn="ctr">
              <a:buSzPts val="2800"/>
              <a:buNone/>
            </a:pPr>
            <a:r>
              <a:rPr lang="en-US" b="1" u="sng" dirty="0">
                <a:latin typeface="Arial Narrow"/>
                <a:ea typeface="Arial Narrow"/>
                <a:cs typeface="Times New Roman" panose="02020603050405020304" pitchFamily="18" charset="0"/>
                <a:sym typeface="Arial Narrow"/>
              </a:rPr>
              <a:t>REVIEW PRESENTATION</a:t>
            </a:r>
            <a:endParaRPr lang="en-US" dirty="0">
              <a:latin typeface="Arial Narrow"/>
              <a:ea typeface="Arial Narrow"/>
              <a:cs typeface="Times New Roman" panose="02020603050405020304" pitchFamily="18" charset="0"/>
              <a:sym typeface="Arial Narrow"/>
            </a:endParaRPr>
          </a:p>
          <a:p>
            <a:pPr marL="0" lvl="0" indent="0" algn="ctr">
              <a:buSzPts val="3600"/>
              <a:buNone/>
            </a:pPr>
            <a:endParaRPr b="1" dirty="0">
              <a:latin typeface="Arial Narrow"/>
              <a:ea typeface="Arial Narrow"/>
              <a:cs typeface="Times New Roman" panose="02020603050405020304" pitchFamily="18" charset="0"/>
              <a:sym typeface="Arial Narrow"/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endParaRPr b="1" dirty="0">
              <a:latin typeface="Arial Narrow"/>
              <a:ea typeface="Arial Narrow"/>
              <a:cs typeface="Times New Roman" panose="02020603050405020304" pitchFamily="18" charset="0"/>
              <a:sym typeface="Arial Narrow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/>
                <a:ea typeface="Arial Narrow"/>
                <a:cs typeface="Times New Roman" panose="02020603050405020304" pitchFamily="18" charset="0"/>
                <a:sym typeface="Arial Narrow"/>
              </a:rPr>
              <a:t>Batch No:20</a:t>
            </a:r>
            <a:endParaRPr lang="en-US" dirty="0">
              <a:latin typeface="Arial Narrow"/>
              <a:ea typeface="Arial Narrow"/>
              <a:cs typeface="Times New Roman" panose="02020603050405020304" pitchFamily="18" charset="0"/>
              <a:sym typeface="Arial Narrow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/>
                <a:ea typeface="Arial Narrow"/>
                <a:cs typeface="Times New Roman" panose="02020603050405020304" pitchFamily="18" charset="0"/>
                <a:sym typeface="Arial Narrow"/>
              </a:rPr>
              <a:t>Date:28-11-2025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 err="1">
                <a:latin typeface="Arial Narrow"/>
                <a:ea typeface="Arial Narrow"/>
                <a:cs typeface="Times New Roman" panose="02020603050405020304" pitchFamily="18" charset="0"/>
                <a:sym typeface="Arial Narrow"/>
              </a:rPr>
              <a:t>Session:AN</a:t>
            </a:r>
            <a:endParaRPr b="1" dirty="0">
              <a:latin typeface="Arial Narrow"/>
              <a:ea typeface="Arial Narrow"/>
              <a:cs typeface="Times New Roman" panose="02020603050405020304" pitchFamily="18" charset="0"/>
              <a:sym typeface="Arial Narrow"/>
            </a:endParaRPr>
          </a:p>
        </p:txBody>
      </p:sp>
      <p:sp>
        <p:nvSpPr>
          <p:cNvPr id="89" name="Google Shape;89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fld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1" name="Google Shape;91;p1"/>
          <p:cNvPicPr preferRelativeResize="0"/>
          <p:nvPr/>
        </p:nvPicPr>
        <p:blipFill>
          <a:blip r:embed="rId3">
            <a:alphaModFix/>
          </a:blip>
          <a:srcRect l="16357" r="14907" b="8148"/>
          <a:stretch>
            <a:fillRect/>
          </a:stretch>
        </p:blipFill>
        <p:spPr>
          <a:xfrm>
            <a:off x="11215585" y="65332"/>
            <a:ext cx="903515" cy="511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F1154A9-AC42-7CD3-98A5-5A0376D653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932" y="0"/>
            <a:ext cx="5348811" cy="18735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body" idx="1"/>
          </p:nvPr>
        </p:nvSpPr>
        <p:spPr>
          <a:xfrm>
            <a:off x="0" y="501650"/>
            <a:ext cx="12119100" cy="2481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endParaRPr lang="en-US" sz="3600" b="1"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US" sz="3600" b="1" dirty="0">
                <a:latin typeface="Arial Narrow"/>
                <a:ea typeface="Arial Narrow"/>
                <a:cs typeface="Arial Narrow"/>
                <a:sym typeface="Arial Narrow"/>
              </a:rPr>
              <a:t>INTELLIGENT TRAVEL RECOMMENDATION SYSTEM FOR PERSONALIZED PLANNING AND BOOKING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97" name="Google Shape;97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fld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2"/>
          <p:cNvSpPr txBox="1">
            <a:spLocks noGrp="1"/>
          </p:cNvSpPr>
          <p:nvPr>
            <p:ph type="body" idx="1"/>
          </p:nvPr>
        </p:nvSpPr>
        <p:spPr>
          <a:xfrm>
            <a:off x="658049" y="3429000"/>
            <a:ext cx="2743200" cy="27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Guide Name: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Mr. </a:t>
            </a:r>
            <a:r>
              <a:rPr lang="en-US" sz="2400" b="1" dirty="0" err="1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D.P.Devan</a:t>
            </a:r>
            <a:r>
              <a:rPr lang="en-US" sz="2400" b="1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 M.E.</a:t>
            </a:r>
            <a:endParaRPr b="1" dirty="0">
              <a:latin typeface="Arial Narrow" panose="020B0606020202030204" pitchFamily="34" charset="0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" name="Google Shape;99;p2"/>
          <p:cNvSpPr txBox="1">
            <a:spLocks noGrp="1"/>
          </p:cNvSpPr>
          <p:nvPr>
            <p:ph type="body" idx="1"/>
          </p:nvPr>
        </p:nvSpPr>
        <p:spPr>
          <a:xfrm>
            <a:off x="6596743" y="3284698"/>
            <a:ext cx="5402590" cy="3071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Team Members: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S.MANESHAW (811722104086)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S.OVIYA (811722104106)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K.RAMISHA PARVEEN (811722104120)</a:t>
            </a:r>
            <a:endParaRPr b="1" dirty="0">
              <a:latin typeface="Arial Narrow" panose="020B0606020202030204" pitchFamily="34" charset="0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>
            <a:spLocks noGrp="1"/>
          </p:cNvSpPr>
          <p:nvPr>
            <p:ph type="title"/>
          </p:nvPr>
        </p:nvSpPr>
        <p:spPr>
          <a:xfrm>
            <a:off x="838200" y="0"/>
            <a:ext cx="105156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b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</a:br>
            <a:b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</a:b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OBJECTIVE OF THE PROJECT</a:t>
            </a: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05" name="Google Shape;105;p3"/>
          <p:cNvSpPr txBox="1">
            <a:spLocks noGrp="1"/>
          </p:cNvSpPr>
          <p:nvPr>
            <p:ph type="body" idx="1"/>
          </p:nvPr>
        </p:nvSpPr>
        <p:spPr>
          <a:xfrm>
            <a:off x="839956" y="1957136"/>
            <a:ext cx="10515600" cy="2935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342900">
              <a:spcBef>
                <a:spcPts val="0"/>
              </a:spcBef>
              <a:buClr>
                <a:schemeClr val="tx1"/>
              </a:buClr>
              <a:buSzPts val="2800"/>
            </a:pPr>
            <a:r>
              <a:rPr lang="en-US" dirty="0">
                <a:latin typeface="Arial Narrow" panose="020B0606020202030204" pitchFamily="34" charset="0"/>
                <a:ea typeface="Arial Narrow"/>
                <a:cs typeface="Times New Roman" panose="02020603050405020304" pitchFamily="18" charset="0"/>
                <a:sym typeface="Arial Narrow"/>
              </a:rPr>
              <a:t>To develop an AI-powered travel recommendation system that suggests   personalized itineraries based on user preferences, budget, and duration.</a:t>
            </a:r>
          </a:p>
          <a:p>
            <a:pPr marL="342900">
              <a:spcBef>
                <a:spcPts val="0"/>
              </a:spcBef>
              <a:buClr>
                <a:schemeClr val="tx1"/>
              </a:buClr>
              <a:buSzPts val="2800"/>
            </a:pPr>
            <a:endParaRPr lang="en-US" dirty="0">
              <a:latin typeface="Arial Narrow" panose="020B0606020202030204" pitchFamily="34" charset="0"/>
              <a:ea typeface="Arial Narrow"/>
              <a:cs typeface="Times New Roman" panose="02020603050405020304" pitchFamily="18" charset="0"/>
              <a:sym typeface="Arial Narrow"/>
            </a:endParaRPr>
          </a:p>
          <a:p>
            <a:pPr marL="342900">
              <a:spcBef>
                <a:spcPts val="0"/>
              </a:spcBef>
              <a:buClr>
                <a:schemeClr val="tx1"/>
              </a:buClr>
              <a:buSzPts val="2800"/>
            </a:pPr>
            <a:r>
              <a:rPr lang="en-US" dirty="0">
                <a:latin typeface="Arial Narrow" panose="020B0606020202030204" pitchFamily="34" charset="0"/>
                <a:ea typeface="Arial Narrow"/>
                <a:cs typeface="Times New Roman" panose="02020603050405020304" pitchFamily="18" charset="0"/>
                <a:sym typeface="Arial Narrow"/>
              </a:rPr>
              <a:t>To integrate a booking module for seamless travel planning, covering flights, hotels, and activities.</a:t>
            </a:r>
          </a:p>
          <a:p>
            <a:pPr marL="514350" indent="-514350">
              <a:spcBef>
                <a:spcPts val="0"/>
              </a:spcBef>
              <a:buClr>
                <a:schemeClr val="tx1"/>
              </a:buClr>
              <a:buSzPts val="2800"/>
            </a:pPr>
            <a:endParaRPr lang="en-US" dirty="0">
              <a:latin typeface="Arial Narrow" panose="020B0606020202030204" pitchFamily="34" charset="0"/>
              <a:ea typeface="Arial Narrow"/>
              <a:cs typeface="Times New Roman" panose="02020603050405020304" pitchFamily="18" charset="0"/>
              <a:sym typeface="Arial Narrow"/>
            </a:endParaRPr>
          </a:p>
          <a:p>
            <a:pPr marL="342900">
              <a:spcBef>
                <a:spcPts val="0"/>
              </a:spcBef>
              <a:buClr>
                <a:schemeClr val="tx1"/>
              </a:buClr>
              <a:buSzPts val="2800"/>
            </a:pPr>
            <a:r>
              <a:rPr lang="en-US" dirty="0">
                <a:latin typeface="Arial Narrow" panose="020B0606020202030204" pitchFamily="34" charset="0"/>
                <a:ea typeface="Arial Narrow"/>
                <a:cs typeface="Times New Roman" panose="02020603050405020304" pitchFamily="18" charset="0"/>
                <a:sym typeface="Arial Narrow"/>
              </a:rPr>
              <a:t>To enhance user satisfaction by reducing the time and effort required for travel planning.</a:t>
            </a:r>
            <a:endParaRPr dirty="0">
              <a:latin typeface="Arial Narrow" panose="020B0606020202030204" pitchFamily="34" charset="0"/>
              <a:ea typeface="Arial Narrow"/>
              <a:cs typeface="Times New Roman" panose="02020603050405020304" pitchFamily="18" charset="0"/>
              <a:sym typeface="Arial Narrow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06" name="Google Shape;106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3</a:t>
            </a:fld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b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</a:br>
            <a:b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</a:b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INTRODUCTION</a:t>
            </a: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12" name="Google Shape;112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14350" lvl="0" indent="-514350">
              <a:spcBef>
                <a:spcPts val="0"/>
              </a:spcBef>
              <a:buSzPts val="2800"/>
              <a:buFont typeface="+mj-lt"/>
              <a:buAutoNum type="arabicPeriod"/>
            </a:pP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In today’s fast-paced world, travelers face an overwhelming number of choices when planning trips.</a:t>
            </a:r>
          </a:p>
          <a:p>
            <a:pPr marL="514350" lvl="0" indent="-514350">
              <a:spcBef>
                <a:spcPts val="0"/>
              </a:spcBef>
              <a:buSzPts val="2800"/>
              <a:buFont typeface="+mj-lt"/>
              <a:buAutoNum type="arabicPeriod"/>
            </a:pPr>
            <a:endParaRPr lang="en-US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pPr marL="514350" lvl="0" indent="-514350">
              <a:spcBef>
                <a:spcPts val="0"/>
              </a:spcBef>
              <a:buSzPts val="2800"/>
              <a:buFont typeface="+mj-lt"/>
              <a:buAutoNum type="arabicPeriod"/>
            </a:pP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Intelligent travel recommendation systems use AI and ML to analyze user preferences and historical data.</a:t>
            </a:r>
          </a:p>
          <a:p>
            <a:pPr marL="514350" lvl="0" indent="-514350">
              <a:spcBef>
                <a:spcPts val="0"/>
              </a:spcBef>
              <a:buSzPts val="2800"/>
              <a:buFont typeface="+mj-lt"/>
              <a:buAutoNum type="arabicPeriod"/>
            </a:pPr>
            <a:endParaRPr lang="en-US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pPr marL="514350" lvl="0" indent="-514350">
              <a:spcBef>
                <a:spcPts val="0"/>
              </a:spcBef>
              <a:buSzPts val="2800"/>
              <a:buFont typeface="+mj-lt"/>
              <a:buAutoNum type="arabicPeriod"/>
            </a:pP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They offer personalized destination, accommodation, and activity suggestions. Our system goes a step further by integrating booking features into a single platform.</a:t>
            </a:r>
          </a:p>
          <a:p>
            <a:pPr marL="514350" lvl="0" indent="-514350">
              <a:spcBef>
                <a:spcPts val="0"/>
              </a:spcBef>
              <a:buSzPts val="2800"/>
              <a:buFont typeface="+mj-lt"/>
              <a:buAutoNum type="arabicPeriod"/>
            </a:pPr>
            <a:endParaRPr lang="en-US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pPr marL="514350" lvl="0" indent="-514350">
              <a:spcBef>
                <a:spcPts val="0"/>
              </a:spcBef>
              <a:buSzPts val="2800"/>
              <a:buFont typeface="+mj-lt"/>
              <a:buAutoNum type="arabicPeriod"/>
            </a:pP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This approach ensures convenience, personalization</a:t>
            </a:r>
            <a:r>
              <a:rPr lang="en-US" sz="2400" dirty="0">
                <a:latin typeface="Arial Narrow" panose="020B0606020202030204" pitchFamily="34" charset="0"/>
              </a:rPr>
              <a:t>, </a:t>
            </a: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and efficiency</a:t>
            </a:r>
            <a:r>
              <a:rPr lang="en-US" dirty="0">
                <a:latin typeface="Arial Narrow" panose="020B0606020202030204" pitchFamily="34" charset="0"/>
              </a:rPr>
              <a:t>.</a:t>
            </a:r>
            <a:endParaRPr dirty="0">
              <a:latin typeface="Arial Narrow" panose="020B0606020202030204" pitchFamily="34" charset="0"/>
            </a:endParaRPr>
          </a:p>
        </p:txBody>
      </p:sp>
      <p:sp>
        <p:nvSpPr>
          <p:cNvPr id="113" name="Google Shape;113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4</a:t>
            </a:fld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"/>
          <p:cNvSpPr/>
          <p:nvPr/>
        </p:nvSpPr>
        <p:spPr>
          <a:xfrm>
            <a:off x="8650724" y="597470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 txBox="1">
            <a:spLocks noGrp="1"/>
          </p:cNvSpPr>
          <p:nvPr>
            <p:ph type="sldNum" idx="12"/>
          </p:nvPr>
        </p:nvSpPr>
        <p:spPr>
          <a:xfrm>
            <a:off x="8507331" y="608900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5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-34414" y="-267347"/>
            <a:ext cx="12054300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4000" b="1" dirty="0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LITERATURE SURVEY</a:t>
            </a: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graphicFrame>
        <p:nvGraphicFramePr>
          <p:cNvPr id="121" name="Google Shape;121;p5"/>
          <p:cNvGraphicFramePr/>
          <p:nvPr>
            <p:extLst>
              <p:ext uri="{D42A27DB-BD31-4B8C-83A1-F6EECF244321}">
                <p14:modId xmlns:p14="http://schemas.microsoft.com/office/powerpoint/2010/main" val="3415462107"/>
              </p:ext>
            </p:extLst>
          </p:nvPr>
        </p:nvGraphicFramePr>
        <p:xfrm>
          <a:off x="0" y="1594839"/>
          <a:ext cx="11985475" cy="8412560"/>
        </p:xfrm>
        <a:graphic>
          <a:graphicData uri="http://schemas.openxmlformats.org/drawingml/2006/table">
            <a:tbl>
              <a:tblPr firstRow="1" bandRow="1">
                <a:noFill/>
                <a:tableStyleId>{3CDD818E-ADFA-4579-856F-A3140DA02BD1}</a:tableStyleId>
              </a:tblPr>
              <a:tblGrid>
                <a:gridCol w="2975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5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5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57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212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TITLE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AUTHORS</a:t>
                      </a:r>
                      <a:endParaRPr sz="2400" u="none" strike="noStrike" cap="none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PUBLISHER</a:t>
                      </a:r>
                      <a:endParaRPr sz="2400" u="none" strike="noStrike" cap="none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TECHNOLOGY USED</a:t>
                      </a:r>
                      <a:endParaRPr sz="2400" u="none" strike="noStrike" cap="none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60609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 An Intelligent Personalized Recommendation for Travel Group Planning Based on Reviews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4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 Liu, X., Huang, Z., &amp; Chen, L.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4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 ResearchGate / IEEE (2017)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Natural Language Processing (NLP) for sentiment analysis, Collaborative Filtering (CF), and Content-Based Filtering.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7891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Context-Aware Recommender Systems for Tourism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i-FI" sz="24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Gavalas, D., Kenteris, M., &amp; Pantziou, G.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4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Springer (2014)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 Context-aware computing, Mobile GIS, GPS-based location tracking, and Decision Support Systems.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7891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Hybrid Recommendation Approach for Travel Planning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24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 Ahmed, T., Rahman, M. S., &amp; Kim, J.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24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 Elsevier – Procedia Computer Science (2019)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4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 Hybrid recommendation (Collaborative + Content-based), Machine Learning models (KNN, Matrix Factorization).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6762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u="none" strike="noStrike" cap="none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u="none" strike="noStrike" cap="none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u="none" strike="noStrike" cap="none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u="none" strike="noStrike" cap="none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6762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u="none" strike="noStrike" cap="none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u="none" strike="noStrike" cap="none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u="none" strike="noStrike" cap="none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u="none" strike="noStrike" cap="none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6762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u="none" strike="noStrike" cap="none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u="none" strike="noStrike" cap="none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u="none" strike="noStrike" cap="none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u="none" strike="noStrike" cap="none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6762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u="none" strike="noStrike" cap="none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u="none" strike="noStrike" cap="none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u="none" strike="noStrike" cap="none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0D9E525-7C7A-1AA9-E191-5BF7621B470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846B86C-D63D-4D02-D3AA-B2027D16BC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5611796"/>
              </p:ext>
            </p:extLst>
          </p:nvPr>
        </p:nvGraphicFramePr>
        <p:xfrm>
          <a:off x="0" y="0"/>
          <a:ext cx="12192000" cy="9052560"/>
        </p:xfrm>
        <a:graphic>
          <a:graphicData uri="http://schemas.openxmlformats.org/drawingml/2006/table">
            <a:tbl>
              <a:tblPr firstRow="1" bandRow="1">
                <a:tableStyleId>{3CDD818E-ADFA-4579-856F-A3140DA02BD1}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77070311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938768698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123254115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519720658"/>
                    </a:ext>
                  </a:extLst>
                </a:gridCol>
              </a:tblGrid>
              <a:tr h="1371600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                TITLE</a:t>
                      </a:r>
                      <a:endParaRPr lang="en-IN" sz="24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lt1"/>
                          </a:solidFill>
                        </a:rPr>
                        <a:t>                      </a:t>
                      </a:r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AUTHOR 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         PUBLISHER</a:t>
                      </a:r>
                      <a:endParaRPr lang="en-IN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TECHNOLOGY USED</a:t>
                      </a:r>
                      <a:endParaRPr lang="en-IN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5169975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rial Narrow" panose="020B0606020202030204" pitchFamily="34" charset="0"/>
                        </a:rPr>
                        <a:t>A Context-Aware Travel Recommendation System Based on Location and Weather</a:t>
                      </a:r>
                      <a:endParaRPr lang="en-IN" sz="24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</a:t>
                      </a:r>
                      <a:r>
                        <a:rPr lang="en-IN" sz="2400" dirty="0">
                          <a:latin typeface="Arial Narrow" panose="020B0606020202030204" pitchFamily="34" charset="0"/>
                        </a:rPr>
                        <a:t>Li, H., &amp; Lu, 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</a:t>
                      </a:r>
                      <a:r>
                        <a:rPr lang="en-IN" sz="2400" dirty="0">
                          <a:latin typeface="Arial Narrow" panose="020B0606020202030204" pitchFamily="34" charset="0"/>
                        </a:rPr>
                        <a:t>IEEE Access (2018)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rial Narrow" panose="020B0606020202030204" pitchFamily="34" charset="0"/>
                        </a:rPr>
                        <a:t>GPS-based location tracking, Weather API integration, Context-aware recommender algorithms.</a:t>
                      </a:r>
                      <a:endParaRPr lang="en-IN" sz="24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5908577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rial Narrow" panose="020B0606020202030204" pitchFamily="34" charset="0"/>
                        </a:rPr>
                        <a:t>Tourism Recommendation System Based on Hybrid Filtering</a:t>
                      </a:r>
                      <a:endParaRPr lang="en-IN" sz="24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Arial Narrow" panose="020B0606020202030204" pitchFamily="34" charset="0"/>
                        </a:rPr>
                        <a:t> Wang, J., &amp; Li, X.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rial Narrow" panose="020B0606020202030204" pitchFamily="34" charset="0"/>
                        </a:rPr>
                        <a:t> Elsevier – Expert Systems with Applications (2016)</a:t>
                      </a:r>
                      <a:endParaRPr lang="en-IN" sz="24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rial Narrow" panose="020B0606020202030204" pitchFamily="34" charset="0"/>
                        </a:rPr>
                        <a:t>Hybrid recommendation (User-based CF + Content-based), Data mining, Knowledge-based rules.</a:t>
                      </a:r>
                      <a:endParaRPr lang="en-IN" sz="24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2783006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rial Narrow" panose="020B0606020202030204" pitchFamily="34" charset="0"/>
                        </a:rPr>
                        <a:t>Personalized Travel Itinerary Generation Using Machine Learning</a:t>
                      </a:r>
                      <a:endParaRPr lang="en-IN" sz="24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Arial Narrow" panose="020B0606020202030204" pitchFamily="34" charset="0"/>
                        </a:rPr>
                        <a:t>Sharma, P., &amp; Gupta, A.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rial Narrow" panose="020B0606020202030204" pitchFamily="34" charset="0"/>
                        </a:rPr>
                        <a:t>Springer – Advances in Intelligent Systems and Computing (2020)</a:t>
                      </a:r>
                      <a:endParaRPr lang="en-IN" sz="24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rial Narrow" panose="020B0606020202030204" pitchFamily="34" charset="0"/>
                        </a:rPr>
                        <a:t>Machine Learning (Decision Trees, Clustering), Collaborative Filtering, Google Maps API.</a:t>
                      </a:r>
                      <a:endParaRPr lang="en-IN" sz="24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4171835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Arial Narrow" panose="020B0606020202030204" pitchFamily="34" charset="0"/>
                        </a:rPr>
                        <a:t>Using Social Media Data for Destination Recommendations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Arial Narrow" panose="020B0606020202030204" pitchFamily="34" charset="0"/>
                        </a:rPr>
                        <a:t> Chen, M., &amp; Zhang, 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Arial Narrow" panose="020B0606020202030204" pitchFamily="34" charset="0"/>
                        </a:rPr>
                        <a:t>ACM SIGKDD (2019)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rial Narrow" panose="020B0606020202030204" pitchFamily="34" charset="0"/>
                        </a:rPr>
                        <a:t>Social media data mining, Sentiment analysis using NLP, Big Data processing with Spark.</a:t>
                      </a:r>
                      <a:endParaRPr lang="en-IN" sz="24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02865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80945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7</a:t>
            </a:fld>
            <a:endParaRPr b="1">
              <a:solidFill>
                <a:schemeClr val="dk1"/>
              </a:solidFill>
            </a:endParaRPr>
          </a:p>
        </p:txBody>
      </p:sp>
      <p:pic>
        <p:nvPicPr>
          <p:cNvPr id="4" name="Picture 3" descr="A diagram of a group&#10;&#10;AI-generated content may be incorrect.">
            <a:extLst>
              <a:ext uri="{FF2B5EF4-FFF2-40B4-BE49-F238E27FC236}">
                <a16:creationId xmlns:a16="http://schemas.microsoft.com/office/drawing/2014/main" id="{56BE4BDA-BADB-49D4-9934-D6E5D0E27D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502351"/>
            <a:ext cx="10515600" cy="503656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4C744EE-128B-4DD9-883B-5EBB9AD69260}"/>
              </a:ext>
            </a:extLst>
          </p:cNvPr>
          <p:cNvSpPr txBox="1"/>
          <p:nvPr/>
        </p:nvSpPr>
        <p:spPr>
          <a:xfrm>
            <a:off x="3347358" y="858123"/>
            <a:ext cx="52632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Arial Narrow" panose="020B0606020202030204" pitchFamily="34" charset="0"/>
                <a:cs typeface="Times New Roman" panose="02020603050405020304" pitchFamily="18" charset="0"/>
              </a:rPr>
              <a:t>      EXISTING SYSTEM</a:t>
            </a:r>
            <a:endParaRPr lang="en-IN" sz="4000" b="1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556FF4A-846C-934C-3216-E25596DEFC2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547338-303F-AD18-F269-E39CE69D719B}"/>
              </a:ext>
            </a:extLst>
          </p:cNvPr>
          <p:cNvSpPr txBox="1"/>
          <p:nvPr/>
        </p:nvSpPr>
        <p:spPr>
          <a:xfrm>
            <a:off x="812992" y="1692174"/>
            <a:ext cx="10299032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 indent="0">
              <a:buNone/>
            </a:pPr>
            <a:r>
              <a:rPr lang="en-US" sz="2800" b="1" dirty="0">
                <a:latin typeface="Arial Narrow" panose="020B0606020202030204" pitchFamily="34" charset="0"/>
                <a:cs typeface="Times New Roman" panose="02020603050405020304" pitchFamily="18" charset="0"/>
              </a:rPr>
              <a:t>Too many travel options</a:t>
            </a:r>
            <a:r>
              <a:rPr lang="en-US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 – People get confused because there are too many places, hotels, and packages to choose from.</a:t>
            </a:r>
          </a:p>
          <a:p>
            <a:pPr marL="114300" indent="0">
              <a:buNone/>
            </a:pPr>
            <a:r>
              <a:rPr lang="en-US" sz="2800" b="1" dirty="0">
                <a:latin typeface="Arial Narrow" panose="020B0606020202030204" pitchFamily="34" charset="0"/>
                <a:cs typeface="Times New Roman" panose="02020603050405020304" pitchFamily="18" charset="0"/>
              </a:rPr>
              <a:t>No personalized suggestions</a:t>
            </a:r>
            <a:r>
              <a:rPr lang="en-US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 – Most websites don’t give suggestions that match a person’s likes, budget, or travel style.</a:t>
            </a:r>
          </a:p>
          <a:p>
            <a:pPr marL="114300" indent="0">
              <a:buNone/>
            </a:pPr>
            <a:r>
              <a:rPr lang="en-US" sz="2800" b="1" dirty="0">
                <a:latin typeface="Arial Narrow" panose="020B0606020202030204" pitchFamily="34" charset="0"/>
                <a:cs typeface="Times New Roman" panose="02020603050405020304" pitchFamily="18" charset="0"/>
              </a:rPr>
              <a:t>Takes too much time to plan</a:t>
            </a:r>
            <a:r>
              <a:rPr lang="en-US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 – Travelers need to visit many different sites for booking flights, hotels, and activities.</a:t>
            </a:r>
          </a:p>
          <a:p>
            <a:pPr marL="114300" indent="0">
              <a:buNone/>
            </a:pPr>
            <a:r>
              <a:rPr lang="en-US" sz="2800" b="1" dirty="0">
                <a:latin typeface="Arial Narrow" panose="020B0606020202030204" pitchFamily="34" charset="0"/>
                <a:cs typeface="Times New Roman" panose="02020603050405020304" pitchFamily="18" charset="0"/>
              </a:rPr>
              <a:t>Bookings are not connected</a:t>
            </a:r>
            <a:r>
              <a:rPr lang="en-US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 – There is no single system to handle all bookings together in one place.</a:t>
            </a:r>
          </a:p>
          <a:p>
            <a:pPr marL="114300" indent="0">
              <a:buNone/>
            </a:pPr>
            <a:r>
              <a:rPr lang="en-US" sz="2800" b="1" dirty="0">
                <a:latin typeface="Arial Narrow" panose="020B0606020202030204" pitchFamily="34" charset="0"/>
                <a:cs typeface="Times New Roman" panose="02020603050405020304" pitchFamily="18" charset="0"/>
              </a:rPr>
              <a:t>No real-time help</a:t>
            </a:r>
            <a:r>
              <a:rPr lang="en-US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 – Users don’t get quick support or updates when travel plans change or when they need instant guidance.</a:t>
            </a:r>
          </a:p>
          <a:p>
            <a:pPr marL="114300" indent="0">
              <a:buNone/>
            </a:pPr>
            <a:endParaRPr lang="en-US" dirty="0">
              <a:latin typeface="Arial Narrow" panose="020B0606020202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6D40E1-3997-B95B-AD98-7954BD3683B7}"/>
              </a:ext>
            </a:extLst>
          </p:cNvPr>
          <p:cNvSpPr txBox="1"/>
          <p:nvPr/>
        </p:nvSpPr>
        <p:spPr>
          <a:xfrm>
            <a:off x="2931122" y="570950"/>
            <a:ext cx="755583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  <a:sym typeface="Arial Narrow"/>
              </a:rPr>
              <a:t>PROBLEM IDENTIFICATION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78937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9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33" name="Google Shape;133;p7"/>
          <p:cNvSpPr txBox="1"/>
          <p:nvPr/>
        </p:nvSpPr>
        <p:spPr>
          <a:xfrm>
            <a:off x="84858" y="143672"/>
            <a:ext cx="121920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PROPOSED SYSTEM</a:t>
            </a:r>
            <a:endParaRPr sz="4000" b="1" i="0" u="none" strike="noStrike" cap="none" dirty="0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pic>
        <p:nvPicPr>
          <p:cNvPr id="1026" name="Picture 2" descr="30,000+ Free User Icon &amp; User Images - Pixabay">
            <a:extLst>
              <a:ext uri="{FF2B5EF4-FFF2-40B4-BE49-F238E27FC236}">
                <a16:creationId xmlns:a16="http://schemas.microsoft.com/office/drawing/2014/main" id="{4639EBF6-3512-47BB-A08D-ACE532F5F1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057" y="1521141"/>
            <a:ext cx="1847850" cy="140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46C8413-68C2-488F-9671-01AD4DCED9BD}"/>
              </a:ext>
            </a:extLst>
          </p:cNvPr>
          <p:cNvSpPr txBox="1"/>
          <p:nvPr/>
        </p:nvSpPr>
        <p:spPr>
          <a:xfrm>
            <a:off x="1465117" y="2827325"/>
            <a:ext cx="16521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Arial Narrow" panose="020B0606020202030204" pitchFamily="34" charset="0"/>
              </a:rPr>
              <a:t>User</a:t>
            </a:r>
            <a:endParaRPr lang="en-IN" sz="2800" b="1" dirty="0">
              <a:latin typeface="Arial Narrow" panose="020B0606020202030204" pitchFamily="34" charset="0"/>
            </a:endParaRPr>
          </a:p>
        </p:txBody>
      </p:sp>
      <p:pic>
        <p:nvPicPr>
          <p:cNvPr id="1028" name="Picture 4" descr="Free right arrow symbol png vector ...">
            <a:extLst>
              <a:ext uri="{FF2B5EF4-FFF2-40B4-BE49-F238E27FC236}">
                <a16:creationId xmlns:a16="http://schemas.microsoft.com/office/drawing/2014/main" id="{A5D78D19-9EEF-4194-8EA4-B189E882A4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4458" y="1433006"/>
            <a:ext cx="2133600" cy="1704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A purple and blue circle with two white speech bubbles&#10;&#10;AI-generated content may be incorrect.">
            <a:extLst>
              <a:ext uri="{FF2B5EF4-FFF2-40B4-BE49-F238E27FC236}">
                <a16:creationId xmlns:a16="http://schemas.microsoft.com/office/drawing/2014/main" id="{29916004-E948-4F9D-86A5-EB8988C129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3738" y="1155548"/>
            <a:ext cx="1847850" cy="206207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22E4079-0D5B-4415-82E7-D69DBE63033A}"/>
              </a:ext>
            </a:extLst>
          </p:cNvPr>
          <p:cNvSpPr txBox="1"/>
          <p:nvPr/>
        </p:nvSpPr>
        <p:spPr>
          <a:xfrm>
            <a:off x="4769427" y="2821607"/>
            <a:ext cx="18478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Arial Narrow" panose="020B0606020202030204" pitchFamily="34" charset="0"/>
              </a:rPr>
              <a:t>Chatbot</a:t>
            </a:r>
            <a:endParaRPr lang="en-IN" sz="2800" b="1" dirty="0">
              <a:latin typeface="Arial Narrow" panose="020B0606020202030204" pitchFamily="34" charset="0"/>
            </a:endParaRPr>
          </a:p>
        </p:txBody>
      </p:sp>
      <p:pic>
        <p:nvPicPr>
          <p:cNvPr id="15" name="Picture 4" descr="Free right arrow symbol png vector ...">
            <a:extLst>
              <a:ext uri="{FF2B5EF4-FFF2-40B4-BE49-F238E27FC236}">
                <a16:creationId xmlns:a16="http://schemas.microsoft.com/office/drawing/2014/main" id="{AA93AFD3-1ECA-4A29-A75C-6A6B579FFF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0413" y="1373936"/>
            <a:ext cx="2133600" cy="1704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A computer with a plane and a ticket&#10;&#10;AI-generated content may be incorrect.">
            <a:extLst>
              <a:ext uri="{FF2B5EF4-FFF2-40B4-BE49-F238E27FC236}">
                <a16:creationId xmlns:a16="http://schemas.microsoft.com/office/drawing/2014/main" id="{9EDD423C-E29D-43A4-8A2A-C3D36D75FE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28263" y="1235877"/>
            <a:ext cx="1847850" cy="1667218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114B4E24-4DA7-4A01-98B4-8EB1E8E0C64A}"/>
              </a:ext>
            </a:extLst>
          </p:cNvPr>
          <p:cNvSpPr txBox="1"/>
          <p:nvPr/>
        </p:nvSpPr>
        <p:spPr>
          <a:xfrm>
            <a:off x="8269431" y="2865563"/>
            <a:ext cx="150668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Arial Narrow" panose="020B0606020202030204" pitchFamily="34" charset="0"/>
              </a:rPr>
              <a:t>Booking</a:t>
            </a:r>
            <a:endParaRPr lang="en-IN" sz="2800" b="1" dirty="0">
              <a:latin typeface="Arial Narrow" panose="020B0606020202030204" pitchFamily="34" charset="0"/>
            </a:endParaRPr>
          </a:p>
        </p:txBody>
      </p:sp>
      <p:pic>
        <p:nvPicPr>
          <p:cNvPr id="21" name="Picture 4" descr="Free right arrow symbol png vector ...">
            <a:extLst>
              <a:ext uri="{FF2B5EF4-FFF2-40B4-BE49-F238E27FC236}">
                <a16:creationId xmlns:a16="http://schemas.microsoft.com/office/drawing/2014/main" id="{1830B285-D82E-43F9-A340-D9E04928D6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8150851" y="3510185"/>
            <a:ext cx="2000251" cy="1704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5" descr="A hand holding a dollar bill&#10;&#10;AI-generated content may be incorrect.">
            <a:extLst>
              <a:ext uri="{FF2B5EF4-FFF2-40B4-BE49-F238E27FC236}">
                <a16:creationId xmlns:a16="http://schemas.microsoft.com/office/drawing/2014/main" id="{BF34FC68-6BD3-4C4B-B0C3-8C6A8F06CD2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98922" y="4919111"/>
            <a:ext cx="1830431" cy="160264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B6F1F328-4945-4DB0-9E72-7087A7E723F8}"/>
              </a:ext>
            </a:extLst>
          </p:cNvPr>
          <p:cNvSpPr txBox="1"/>
          <p:nvPr/>
        </p:nvSpPr>
        <p:spPr>
          <a:xfrm>
            <a:off x="8610600" y="6356350"/>
            <a:ext cx="17041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Arial Narrow" panose="020B0606020202030204" pitchFamily="34" charset="0"/>
              </a:rPr>
              <a:t>Paymen</a:t>
            </a:r>
            <a:r>
              <a:rPr lang="en-US" sz="2800" b="1" dirty="0"/>
              <a:t>t</a:t>
            </a:r>
            <a:endParaRPr lang="en-IN" sz="2800" b="1" dirty="0"/>
          </a:p>
        </p:txBody>
      </p:sp>
      <p:pic>
        <p:nvPicPr>
          <p:cNvPr id="25" name="Picture 4" descr="Free right arrow symbol png vector ...">
            <a:extLst>
              <a:ext uri="{FF2B5EF4-FFF2-40B4-BE49-F238E27FC236}">
                <a16:creationId xmlns:a16="http://schemas.microsoft.com/office/drawing/2014/main" id="{FDEB2E4C-B720-414D-A3AE-F12F08A957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180859" y="4557547"/>
            <a:ext cx="2133600" cy="1704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8" descr="A cloud and a yellow cylinder&#10;&#10;AI-generated content may be incorrect.">
            <a:extLst>
              <a:ext uri="{FF2B5EF4-FFF2-40B4-BE49-F238E27FC236}">
                <a16:creationId xmlns:a16="http://schemas.microsoft.com/office/drawing/2014/main" id="{B6CC6420-EE47-4E59-8CC4-424B11497DD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69427" y="4525717"/>
            <a:ext cx="1669573" cy="1823676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01A3D59B-7108-4A1F-B83E-4B0F7DAAF7D9}"/>
              </a:ext>
            </a:extLst>
          </p:cNvPr>
          <p:cNvSpPr txBox="1"/>
          <p:nvPr/>
        </p:nvSpPr>
        <p:spPr>
          <a:xfrm flipH="1">
            <a:off x="5021232" y="6381223"/>
            <a:ext cx="15960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Arial Narrow" panose="020B0606020202030204" pitchFamily="34" charset="0"/>
              </a:rPr>
              <a:t>Databa</a:t>
            </a:r>
            <a:r>
              <a:rPr lang="en-US" sz="2800" b="1" dirty="0"/>
              <a:t>se</a:t>
            </a:r>
            <a:endParaRPr lang="en-IN" sz="2800" b="1" dirty="0"/>
          </a:p>
        </p:txBody>
      </p:sp>
      <p:pic>
        <p:nvPicPr>
          <p:cNvPr id="29" name="Picture 4" descr="Free right arrow symbol png vector ...">
            <a:extLst>
              <a:ext uri="{FF2B5EF4-FFF2-40B4-BE49-F238E27FC236}">
                <a16:creationId xmlns:a16="http://schemas.microsoft.com/office/drawing/2014/main" id="{F6284AC9-D4DC-4F2E-834E-457CE4B814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2621082" y="4557547"/>
            <a:ext cx="2133600" cy="1704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3" descr="A blue and black server&#10;&#10;AI-generated content may be incorrect.">
            <a:extLst>
              <a:ext uri="{FF2B5EF4-FFF2-40B4-BE49-F238E27FC236}">
                <a16:creationId xmlns:a16="http://schemas.microsoft.com/office/drawing/2014/main" id="{8F34BC47-D5AE-4C51-A0B5-0B2888EA4A2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4454" y="3954513"/>
            <a:ext cx="2054827" cy="2321893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C8FE367F-D626-46EF-B841-1F4CCA25A0DF}"/>
              </a:ext>
            </a:extLst>
          </p:cNvPr>
          <p:cNvSpPr txBox="1"/>
          <p:nvPr/>
        </p:nvSpPr>
        <p:spPr>
          <a:xfrm>
            <a:off x="1441815" y="6122643"/>
            <a:ext cx="14676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Arial Narrow" panose="020B0606020202030204" pitchFamily="34" charset="0"/>
              </a:rPr>
              <a:t>Serve</a:t>
            </a:r>
            <a:r>
              <a:rPr lang="en-US" sz="2800" dirty="0"/>
              <a:t>r</a:t>
            </a:r>
            <a:endParaRPr lang="en-IN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b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</a:br>
            <a:b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</a:br>
            <a:b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</a:b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SOFTWARE AND HARDWARE REQUIREMENTS </a:t>
            </a: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39" name="Google Shape;139;p8"/>
          <p:cNvSpPr txBox="1">
            <a:spLocks noGrp="1"/>
          </p:cNvSpPr>
          <p:nvPr>
            <p:ph type="body" idx="2"/>
          </p:nvPr>
        </p:nvSpPr>
        <p:spPr>
          <a:xfrm>
            <a:off x="310182" y="2671750"/>
            <a:ext cx="5393931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b="1" dirty="0">
                <a:latin typeface="Arial Narrow" panose="020B0606020202030204" pitchFamily="34" charset="0"/>
                <a:ea typeface="Arial Narrow"/>
                <a:cs typeface="Times New Roman" panose="02020603050405020304" pitchFamily="18" charset="0"/>
                <a:sym typeface="Arial Narrow"/>
              </a:rPr>
              <a:t>HARDWARE</a:t>
            </a:r>
            <a:endParaRPr dirty="0">
              <a:latin typeface="Arial Narrow" panose="020B0606020202030204" pitchFamily="34" charset="0"/>
              <a:ea typeface="Arial Narrow"/>
              <a:cs typeface="Times New Roman" panose="02020603050405020304" pitchFamily="18" charset="0"/>
              <a:sym typeface="Arial Narrow"/>
            </a:endParaRPr>
          </a:p>
          <a:p>
            <a:pPr marL="0" lvl="0" indent="0">
              <a:spcBef>
                <a:spcPts val="0"/>
              </a:spcBef>
              <a:buClr>
                <a:srgbClr val="FF0000"/>
              </a:buClr>
              <a:buSzPts val="2800"/>
              <a:buNone/>
            </a:pPr>
            <a:r>
              <a:rPr lang="en-US" dirty="0">
                <a:latin typeface="Arial Narrow" panose="020B0606020202030204" pitchFamily="34" charset="0"/>
                <a:ea typeface="Arial Narrow"/>
                <a:cs typeface="Times New Roman" panose="02020603050405020304" pitchFamily="18" charset="0"/>
                <a:sym typeface="Arial Narrow"/>
              </a:rPr>
              <a:t>1.    Processor: Intel i5 or higher</a:t>
            </a:r>
          </a:p>
          <a:p>
            <a:pPr marL="0" lvl="0" indent="0">
              <a:spcBef>
                <a:spcPts val="0"/>
              </a:spcBef>
              <a:buClr>
                <a:srgbClr val="FF0000"/>
              </a:buClr>
              <a:buSzPts val="2800"/>
              <a:buNone/>
            </a:pPr>
            <a:r>
              <a:rPr lang="en-US" dirty="0">
                <a:latin typeface="Arial Narrow" panose="020B0606020202030204" pitchFamily="34" charset="0"/>
                <a:ea typeface="Arial Narrow"/>
                <a:cs typeface="Times New Roman" panose="02020603050405020304" pitchFamily="18" charset="0"/>
                <a:sym typeface="Arial Narrow"/>
              </a:rPr>
              <a:t>2.    RAM: 8GB </a:t>
            </a:r>
          </a:p>
          <a:p>
            <a:pPr marL="0" lvl="0" indent="0">
              <a:spcBef>
                <a:spcPts val="0"/>
              </a:spcBef>
              <a:buClr>
                <a:srgbClr val="FF0000"/>
              </a:buClr>
              <a:buSzPts val="2800"/>
              <a:buNone/>
            </a:pPr>
            <a:r>
              <a:rPr lang="en-US" dirty="0">
                <a:latin typeface="Arial Narrow" panose="020B0606020202030204" pitchFamily="34" charset="0"/>
                <a:ea typeface="Arial Narrow"/>
                <a:cs typeface="Times New Roman" panose="02020603050405020304" pitchFamily="18" charset="0"/>
                <a:sym typeface="Arial Narrow"/>
              </a:rPr>
              <a:t>3.    </a:t>
            </a:r>
            <a:r>
              <a:rPr lang="en-US" dirty="0" err="1">
                <a:latin typeface="Arial Narrow" panose="020B0606020202030204" pitchFamily="34" charset="0"/>
                <a:ea typeface="Arial Narrow"/>
                <a:cs typeface="Times New Roman" panose="02020603050405020304" pitchFamily="18" charset="0"/>
                <a:sym typeface="Arial Narrow"/>
              </a:rPr>
              <a:t>MinimumStorage</a:t>
            </a:r>
            <a:r>
              <a:rPr lang="en-US" dirty="0">
                <a:latin typeface="Arial Narrow" panose="020B0606020202030204" pitchFamily="34" charset="0"/>
                <a:ea typeface="Arial Narrow"/>
                <a:cs typeface="Times New Roman" panose="02020603050405020304" pitchFamily="18" charset="0"/>
                <a:sym typeface="Arial Narrow"/>
              </a:rPr>
              <a:t>: 500GB HDD /</a:t>
            </a:r>
          </a:p>
          <a:p>
            <a:pPr marL="0" lvl="0" indent="0">
              <a:spcBef>
                <a:spcPts val="0"/>
              </a:spcBef>
              <a:buClr>
                <a:srgbClr val="FF0000"/>
              </a:buClr>
              <a:buSzPts val="2800"/>
              <a:buNone/>
            </a:pPr>
            <a:r>
              <a:rPr lang="en-US" dirty="0">
                <a:latin typeface="Arial Narrow" panose="020B0606020202030204" pitchFamily="34" charset="0"/>
                <a:ea typeface="Arial Narrow"/>
                <a:cs typeface="Times New Roman" panose="02020603050405020304" pitchFamily="18" charset="0"/>
                <a:sym typeface="Arial Narrow"/>
              </a:rPr>
              <a:t> 256GB SSD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lang="en-US" dirty="0">
              <a:latin typeface="Arial Narrow" panose="020B0606020202030204" pitchFamily="34" charset="0"/>
              <a:ea typeface="Arial Narrow"/>
              <a:cs typeface="Arial Narrow"/>
              <a:sym typeface="Arial Narrow"/>
            </a:endParaRPr>
          </a:p>
        </p:txBody>
      </p:sp>
      <p:sp>
        <p:nvSpPr>
          <p:cNvPr id="140" name="Google Shape;140;p8"/>
          <p:cNvSpPr txBox="1">
            <a:spLocks noGrp="1"/>
          </p:cNvSpPr>
          <p:nvPr>
            <p:ph type="body" idx="4"/>
          </p:nvPr>
        </p:nvSpPr>
        <p:spPr>
          <a:xfrm>
            <a:off x="6096000" y="2539370"/>
            <a:ext cx="6025131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b="1" dirty="0">
                <a:latin typeface="Arial Narrow" panose="020B0606020202030204" pitchFamily="34" charset="0"/>
                <a:ea typeface="Arial Narrow"/>
                <a:cs typeface="Times New Roman" panose="02020603050405020304" pitchFamily="18" charset="0"/>
                <a:sym typeface="Arial Narrow"/>
              </a:rPr>
              <a:t>SOFTWARE</a:t>
            </a:r>
            <a:endParaRPr b="1" dirty="0">
              <a:latin typeface="Arial Narrow" panose="020B0606020202030204" pitchFamily="34" charset="0"/>
              <a:ea typeface="Arial Narrow"/>
              <a:cs typeface="Times New Roman" panose="02020603050405020304" pitchFamily="18" charset="0"/>
              <a:sym typeface="Arial Narro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lang="en-US" dirty="0">
              <a:latin typeface="Arial Narrow" panose="020B0606020202030204" pitchFamily="34" charset="0"/>
              <a:ea typeface="Arial Narrow"/>
              <a:cs typeface="Times New Roman" panose="02020603050405020304" pitchFamily="18" charset="0"/>
              <a:sym typeface="Arial Narrow"/>
            </a:endParaRPr>
          </a:p>
          <a:p>
            <a:pPr marL="0" lvl="0" indent="0">
              <a:spcBef>
                <a:spcPts val="0"/>
              </a:spcBef>
              <a:buClr>
                <a:srgbClr val="FF0000"/>
              </a:buClr>
              <a:buSzPts val="2800"/>
              <a:buNone/>
            </a:pPr>
            <a:r>
              <a:rPr lang="en-IN" dirty="0">
                <a:latin typeface="Arial Narrow" panose="020B0606020202030204" pitchFamily="34" charset="0"/>
                <a:ea typeface="Arial Narrow"/>
                <a:cs typeface="Times New Roman" panose="02020603050405020304" pitchFamily="18" charset="0"/>
                <a:sym typeface="Arial Narrow"/>
              </a:rPr>
              <a:t>1.    Operating System – Windows 10 or higher</a:t>
            </a:r>
          </a:p>
          <a:p>
            <a:pPr marL="0" lvl="0" indent="0">
              <a:spcBef>
                <a:spcPts val="0"/>
              </a:spcBef>
              <a:buClr>
                <a:srgbClr val="FF0000"/>
              </a:buClr>
              <a:buSzPts val="2800"/>
              <a:buNone/>
            </a:pPr>
            <a:r>
              <a:rPr lang="en-IN" dirty="0">
                <a:latin typeface="Arial Narrow" panose="020B0606020202030204" pitchFamily="34" charset="0"/>
                <a:ea typeface="Arial Narrow"/>
                <a:cs typeface="Times New Roman" panose="02020603050405020304" pitchFamily="18" charset="0"/>
                <a:sym typeface="Arial Narrow"/>
              </a:rPr>
              <a:t>2.    Front-End Technologies – HTML, CSS, JavaScript</a:t>
            </a:r>
          </a:p>
          <a:p>
            <a:pPr marL="0" lvl="0" indent="0">
              <a:spcBef>
                <a:spcPts val="0"/>
              </a:spcBef>
              <a:buClr>
                <a:srgbClr val="FF0000"/>
              </a:buClr>
              <a:buSzPts val="2800"/>
              <a:buNone/>
            </a:pPr>
            <a:r>
              <a:rPr lang="en-IN" dirty="0">
                <a:latin typeface="Arial Narrow" panose="020B0606020202030204" pitchFamily="34" charset="0"/>
                <a:ea typeface="Arial Narrow"/>
                <a:cs typeface="Times New Roman" panose="02020603050405020304" pitchFamily="18" charset="0"/>
                <a:sym typeface="Arial Narrow"/>
              </a:rPr>
              <a:t>3.    Back-End Technology – PHP</a:t>
            </a:r>
          </a:p>
          <a:p>
            <a:pPr marL="0" lvl="0" indent="0">
              <a:spcBef>
                <a:spcPts val="0"/>
              </a:spcBef>
              <a:buClr>
                <a:srgbClr val="FF0000"/>
              </a:buClr>
              <a:buSzPts val="2800"/>
              <a:buNone/>
            </a:pPr>
            <a:r>
              <a:rPr lang="en-IN" dirty="0">
                <a:latin typeface="Arial Narrow" panose="020B0606020202030204" pitchFamily="34" charset="0"/>
                <a:ea typeface="Arial Narrow"/>
                <a:cs typeface="Times New Roman" panose="02020603050405020304" pitchFamily="18" charset="0"/>
                <a:sym typeface="Arial Narrow"/>
              </a:rPr>
              <a:t>4.    Database – MySQL</a:t>
            </a:r>
          </a:p>
          <a:p>
            <a:pPr marL="0" lvl="0" indent="0">
              <a:spcBef>
                <a:spcPts val="0"/>
              </a:spcBef>
              <a:buClr>
                <a:srgbClr val="FF0000"/>
              </a:buClr>
              <a:buSzPts val="2800"/>
              <a:buNone/>
            </a:pPr>
            <a:r>
              <a:rPr lang="en-IN" dirty="0">
                <a:latin typeface="Arial Narrow" panose="020B0606020202030204" pitchFamily="34" charset="0"/>
                <a:ea typeface="Arial Narrow"/>
                <a:cs typeface="Times New Roman" panose="02020603050405020304" pitchFamily="18" charset="0"/>
                <a:sym typeface="Arial Narrow"/>
              </a:rPr>
              <a:t>5.    Server – Apache Server</a:t>
            </a:r>
            <a:endParaRPr dirty="0">
              <a:latin typeface="Arial Narrow" panose="020B0606020202030204" pitchFamily="34" charset="0"/>
              <a:ea typeface="Arial Narrow"/>
              <a:cs typeface="Times New Roman" panose="02020603050405020304" pitchFamily="18" charset="0"/>
              <a:sym typeface="Arial Narrow"/>
            </a:endParaRPr>
          </a:p>
        </p:txBody>
      </p:sp>
      <p:sp>
        <p:nvSpPr>
          <p:cNvPr id="141" name="Google Shape;141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10</a:t>
            </a:fld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9"/>
          <p:cNvSpPr txBox="1">
            <a:spLocks noGrp="1"/>
          </p:cNvSpPr>
          <p:nvPr>
            <p:ph type="title"/>
          </p:nvPr>
        </p:nvSpPr>
        <p:spPr>
          <a:xfrm>
            <a:off x="-1042737" y="-1"/>
            <a:ext cx="13234737" cy="1825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b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</a:b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MODULES </a:t>
            </a: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47" name="Google Shape;147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spcBef>
                <a:spcPts val="0"/>
              </a:spcBef>
              <a:buClr>
                <a:srgbClr val="FF0000"/>
              </a:buClr>
              <a:buSzPts val="2800"/>
              <a:buNone/>
            </a:pPr>
            <a:r>
              <a:rPr lang="en-US" dirty="0">
                <a:latin typeface="Arial Narrow" panose="020B0606020202030204" pitchFamily="34" charset="0"/>
                <a:ea typeface="Times New Roman"/>
                <a:cs typeface="Times New Roman" panose="02020603050405020304" pitchFamily="18" charset="0"/>
                <a:sym typeface="Times New Roman"/>
              </a:rPr>
              <a:t>1. User Profile Management – stores preferences, travel history.</a:t>
            </a:r>
          </a:p>
          <a:p>
            <a:pPr marL="0" lvl="0" indent="0">
              <a:spcBef>
                <a:spcPts val="0"/>
              </a:spcBef>
              <a:buClr>
                <a:srgbClr val="FF0000"/>
              </a:buClr>
              <a:buSzPts val="2800"/>
              <a:buNone/>
            </a:pPr>
            <a:endParaRPr lang="en-US" dirty="0">
              <a:latin typeface="Arial Narrow" panose="020B0606020202030204" pitchFamily="34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lvl="0" indent="0">
              <a:spcBef>
                <a:spcPts val="0"/>
              </a:spcBef>
              <a:buClr>
                <a:srgbClr val="FF0000"/>
              </a:buClr>
              <a:buSzPts val="2800"/>
              <a:buNone/>
            </a:pPr>
            <a:r>
              <a:rPr lang="en-US" dirty="0">
                <a:latin typeface="Arial Narrow" panose="020B0606020202030204" pitchFamily="34" charset="0"/>
                <a:ea typeface="Times New Roman"/>
                <a:cs typeface="Times New Roman" panose="02020603050405020304" pitchFamily="18" charset="0"/>
                <a:sym typeface="Times New Roman"/>
              </a:rPr>
              <a:t>2. Destination Recommendation – suggests destinations based on AI models.</a:t>
            </a:r>
          </a:p>
          <a:p>
            <a:pPr marL="0" lvl="0" indent="0">
              <a:spcBef>
                <a:spcPts val="0"/>
              </a:spcBef>
              <a:buClr>
                <a:srgbClr val="FF0000"/>
              </a:buClr>
              <a:buSzPts val="2800"/>
              <a:buNone/>
            </a:pPr>
            <a:endParaRPr lang="en-US" dirty="0">
              <a:latin typeface="Arial Narrow" panose="020B0606020202030204" pitchFamily="34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lvl="0" indent="0">
              <a:spcBef>
                <a:spcPts val="0"/>
              </a:spcBef>
              <a:buClr>
                <a:srgbClr val="FF0000"/>
              </a:buClr>
              <a:buSzPts val="2800"/>
              <a:buNone/>
            </a:pPr>
            <a:r>
              <a:rPr lang="en-US" dirty="0">
                <a:latin typeface="Arial Narrow" panose="020B0606020202030204" pitchFamily="34" charset="0"/>
                <a:ea typeface="Times New Roman"/>
                <a:cs typeface="Times New Roman" panose="02020603050405020304" pitchFamily="18" charset="0"/>
                <a:sym typeface="Times New Roman"/>
              </a:rPr>
              <a:t>3. Itinerary Planning – creates a daily travel schedule.</a:t>
            </a:r>
          </a:p>
          <a:p>
            <a:pPr marL="0" lvl="0" indent="0">
              <a:spcBef>
                <a:spcPts val="0"/>
              </a:spcBef>
              <a:buClr>
                <a:srgbClr val="FF0000"/>
              </a:buClr>
              <a:buSzPts val="2800"/>
              <a:buNone/>
            </a:pPr>
            <a:endParaRPr lang="en-US" dirty="0">
              <a:latin typeface="Arial Narrow" panose="020B0606020202030204" pitchFamily="34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lvl="0" indent="0">
              <a:spcBef>
                <a:spcPts val="0"/>
              </a:spcBef>
              <a:buClr>
                <a:srgbClr val="FF0000"/>
              </a:buClr>
              <a:buSzPts val="2800"/>
              <a:buNone/>
            </a:pPr>
            <a:r>
              <a:rPr lang="en-US" dirty="0">
                <a:latin typeface="Arial Narrow" panose="020B0606020202030204" pitchFamily="34" charset="0"/>
                <a:ea typeface="Times New Roman"/>
                <a:cs typeface="Times New Roman" panose="02020603050405020304" pitchFamily="18" charset="0"/>
                <a:sym typeface="Times New Roman"/>
              </a:rPr>
              <a:t>4. Booking System – integrates hotel, flight, and activity bookings.</a:t>
            </a:r>
          </a:p>
          <a:p>
            <a:pPr marL="0" lvl="0" indent="0">
              <a:spcBef>
                <a:spcPts val="0"/>
              </a:spcBef>
              <a:buClr>
                <a:srgbClr val="FF0000"/>
              </a:buClr>
              <a:buSzPts val="2800"/>
              <a:buNone/>
            </a:pPr>
            <a:endParaRPr lang="en-US" dirty="0">
              <a:latin typeface="Arial Narrow" panose="020B0606020202030204" pitchFamily="34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lvl="0" indent="0">
              <a:spcBef>
                <a:spcPts val="0"/>
              </a:spcBef>
              <a:buClr>
                <a:srgbClr val="FF0000"/>
              </a:buClr>
              <a:buSzPts val="2800"/>
              <a:buNone/>
            </a:pPr>
            <a:r>
              <a:rPr lang="en-US" dirty="0">
                <a:latin typeface="Arial Narrow" panose="020B0606020202030204" pitchFamily="34" charset="0"/>
                <a:ea typeface="Times New Roman"/>
                <a:cs typeface="Times New Roman" panose="02020603050405020304" pitchFamily="18" charset="0"/>
                <a:sym typeface="Times New Roman"/>
              </a:rPr>
              <a:t>5. Real-time Updates – adjusts recommendations based on live data.</a:t>
            </a:r>
            <a:endParaRPr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dirty="0">
              <a:latin typeface="Arial Narrow" panose="020B0606020202030204" pitchFamily="34" charset="0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" name="Google Shape;148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11</a:t>
            </a:fld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56F7D3B-C4C7-1A12-D244-BA56BF7369F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982A5E-00C2-01E5-3709-052AD7701A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7201" y="1322388"/>
            <a:ext cx="3490976" cy="470829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068023D-5D97-06B6-0645-B77046766583}"/>
              </a:ext>
            </a:extLst>
          </p:cNvPr>
          <p:cNvSpPr txBox="1"/>
          <p:nvPr/>
        </p:nvSpPr>
        <p:spPr>
          <a:xfrm>
            <a:off x="3363685" y="330854"/>
            <a:ext cx="697979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b="1" dirty="0">
                <a:latin typeface="Arial Narrow" panose="020B0606020202030204" pitchFamily="34" charset="0"/>
                <a:cs typeface="Times New Roman" panose="02020603050405020304" pitchFamily="18" charset="0"/>
              </a:rPr>
              <a:t>IMPLEMENTATION OF MODULE-1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332BC9-7CC1-9772-8D4A-E072BD32A2D4}"/>
              </a:ext>
            </a:extLst>
          </p:cNvPr>
          <p:cNvSpPr txBox="1"/>
          <p:nvPr/>
        </p:nvSpPr>
        <p:spPr>
          <a:xfrm>
            <a:off x="794658" y="1600200"/>
            <a:ext cx="6476999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1. Implemented secure user registration and login using PHP and MySQL to manage user authentication.</a:t>
            </a:r>
          </a:p>
          <a:p>
            <a:r>
              <a:rPr lang="en-US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2. Stored and updated user preferences such as interests, budget, and travel history to support personalized outputs.</a:t>
            </a:r>
          </a:p>
          <a:p>
            <a:endParaRPr lang="en-US" sz="28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6EFA0B-1C86-7E5A-DB05-7A3D4910EA5E}"/>
              </a:ext>
            </a:extLst>
          </p:cNvPr>
          <p:cNvSpPr txBox="1"/>
          <p:nvPr/>
        </p:nvSpPr>
        <p:spPr>
          <a:xfrm>
            <a:off x="8904514" y="6297895"/>
            <a:ext cx="24492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Arial Narrow" panose="020B0606020202030204" pitchFamily="34" charset="0"/>
              </a:rPr>
              <a:t>    Login page</a:t>
            </a:r>
            <a:endParaRPr lang="en-IN" sz="2000" b="1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98380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B8280B-A1F1-C4B0-B8B4-4F31E967A56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F60526-0562-9DD9-5F95-93DDE05225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1143" y="1151528"/>
            <a:ext cx="4305974" cy="460465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774543D-550D-9333-FFB9-3C9A44F54F73}"/>
              </a:ext>
            </a:extLst>
          </p:cNvPr>
          <p:cNvSpPr txBox="1"/>
          <p:nvPr/>
        </p:nvSpPr>
        <p:spPr>
          <a:xfrm>
            <a:off x="3320143" y="489857"/>
            <a:ext cx="627928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b="1" dirty="0">
                <a:latin typeface="Arial Narrow" panose="020B0606020202030204" pitchFamily="34" charset="0"/>
                <a:cs typeface="Times New Roman" panose="02020603050405020304" pitchFamily="18" charset="0"/>
              </a:rPr>
              <a:t>IMPLEMENTATION MODULE-2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B424F6-8696-C766-5728-DB47660D5B56}"/>
              </a:ext>
            </a:extLst>
          </p:cNvPr>
          <p:cNvSpPr txBox="1"/>
          <p:nvPr/>
        </p:nvSpPr>
        <p:spPr>
          <a:xfrm>
            <a:off x="4163786" y="5894636"/>
            <a:ext cx="74403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Arial Narrow" panose="020B0606020202030204" pitchFamily="34" charset="0"/>
                <a:cs typeface="Times New Roman" panose="02020603050405020304" pitchFamily="18" charset="0"/>
              </a:rPr>
              <a:t>                                                                Recommending Packages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7D524A-8D62-B8D9-4377-167C7BDFB4EC}"/>
              </a:ext>
            </a:extLst>
          </p:cNvPr>
          <p:cNvSpPr txBox="1"/>
          <p:nvPr/>
        </p:nvSpPr>
        <p:spPr>
          <a:xfrm>
            <a:off x="816429" y="1545770"/>
            <a:ext cx="6411685" cy="31895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rial Narrow" panose="020B0606020202030204" pitchFamily="34" charset="0"/>
              </a:rPr>
              <a:t>1</a:t>
            </a:r>
            <a:r>
              <a:rPr lang="en-US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. Integrated an AI-based recommendation logic that matches user preferences with stored destination data.</a:t>
            </a:r>
          </a:p>
          <a:p>
            <a:r>
              <a:rPr lang="en-US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2. Displayed personalized destination suggestions along with images, ratings, and key travel details.</a:t>
            </a:r>
          </a:p>
          <a:p>
            <a:endParaRPr lang="en-US" sz="28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67292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CF46736-9EEF-C420-2C93-86D0123082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8BF50E-BC29-AA49-5C45-51763E2AA8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0735" y="2008867"/>
            <a:ext cx="4080356" cy="348342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B88CB77-304E-5108-E676-28A3CCE18AF4}"/>
              </a:ext>
            </a:extLst>
          </p:cNvPr>
          <p:cNvSpPr txBox="1"/>
          <p:nvPr/>
        </p:nvSpPr>
        <p:spPr>
          <a:xfrm>
            <a:off x="3048000" y="468844"/>
            <a:ext cx="494879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>
                <a:latin typeface="Arial Narrow" panose="020B0606020202030204" pitchFamily="34" charset="0"/>
                <a:cs typeface="Times New Roman" panose="02020603050405020304" pitchFamily="18" charset="0"/>
              </a:rPr>
              <a:t>IMPLEMENTATION OF MODULE-3</a:t>
            </a:r>
          </a:p>
          <a:p>
            <a:endParaRPr lang="en-IN" dirty="0">
              <a:latin typeface="Arial Narrow" panose="020B0606020202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277975-B8B2-F43B-595F-40C11B8906DB}"/>
              </a:ext>
            </a:extLst>
          </p:cNvPr>
          <p:cNvSpPr txBox="1"/>
          <p:nvPr/>
        </p:nvSpPr>
        <p:spPr>
          <a:xfrm>
            <a:off x="8284030" y="5571056"/>
            <a:ext cx="25799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Arial Narrow" panose="020B0606020202030204" pitchFamily="34" charset="0"/>
                <a:cs typeface="Times New Roman" panose="02020603050405020304" pitchFamily="18" charset="0"/>
              </a:rPr>
              <a:t>      Chatbot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A7E318-5140-F97B-D0CF-4596890BD415}"/>
              </a:ext>
            </a:extLst>
          </p:cNvPr>
          <p:cNvSpPr txBox="1"/>
          <p:nvPr/>
        </p:nvSpPr>
        <p:spPr>
          <a:xfrm>
            <a:off x="882658" y="1365706"/>
            <a:ext cx="6203942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1. Developed a chatbot interface that responds to user queries regarding destinations, bookings, and itinerary information.</a:t>
            </a:r>
          </a:p>
          <a:p>
            <a:r>
              <a:rPr lang="en-US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2. Integrated simple rule-based or API-driven responses to provide instant assistance and improve user interaction.</a:t>
            </a:r>
          </a:p>
          <a:p>
            <a:endParaRPr lang="en-US" sz="28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48232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5604595-C22E-557C-316B-CF55B970A12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15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7E82A2-1C6E-C0E6-2A77-59AB5A9EAE36}"/>
              </a:ext>
            </a:extLst>
          </p:cNvPr>
          <p:cNvSpPr txBox="1"/>
          <p:nvPr/>
        </p:nvSpPr>
        <p:spPr>
          <a:xfrm>
            <a:off x="3385457" y="355470"/>
            <a:ext cx="633548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OF MODULE-4</a:t>
            </a:r>
          </a:p>
          <a:p>
            <a:endParaRPr lang="en-IN" dirty="0">
              <a:latin typeface="Arial Narrow" panose="020B060602020203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8271F5F-84C9-87EF-295B-149CFB0B30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5071" y="1097415"/>
            <a:ext cx="2494720" cy="50400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594BACC-FAB7-9C08-13E2-529E91456C66}"/>
              </a:ext>
            </a:extLst>
          </p:cNvPr>
          <p:cNvSpPr txBox="1"/>
          <p:nvPr/>
        </p:nvSpPr>
        <p:spPr>
          <a:xfrm>
            <a:off x="9176657" y="6217602"/>
            <a:ext cx="16110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99C44E-9ADC-276C-7878-82DC0BAC4FA5}"/>
              </a:ext>
            </a:extLst>
          </p:cNvPr>
          <p:cNvSpPr txBox="1"/>
          <p:nvPr/>
        </p:nvSpPr>
        <p:spPr>
          <a:xfrm>
            <a:off x="979714" y="1513114"/>
            <a:ext cx="6237515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1.Implemented booking forms for hotels, flights, and activities using PHP and MySQL to capture user booking details.</a:t>
            </a:r>
          </a:p>
          <a:p>
            <a:r>
              <a:rPr lang="en-US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2. Added secure payment flow and stored booking confirmations, allowing users to track their reservations.</a:t>
            </a:r>
          </a:p>
          <a:p>
            <a:endParaRPr lang="en-US" sz="28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15746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2D38E03-D0D9-8B8E-38BA-7ADEA63BE38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16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D90525-DB88-EAFB-CDD7-9C13787BC3B5}"/>
              </a:ext>
            </a:extLst>
          </p:cNvPr>
          <p:cNvSpPr txBox="1"/>
          <p:nvPr/>
        </p:nvSpPr>
        <p:spPr>
          <a:xfrm>
            <a:off x="3320143" y="548637"/>
            <a:ext cx="732608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OF MODULE-5</a:t>
            </a:r>
          </a:p>
        </p:txBody>
      </p:sp>
      <p:sp>
        <p:nvSpPr>
          <p:cNvPr id="5" name="AutoShape 2">
            <a:extLst>
              <a:ext uri="{FF2B5EF4-FFF2-40B4-BE49-F238E27FC236}">
                <a16:creationId xmlns:a16="http://schemas.microsoft.com/office/drawing/2014/main" id="{DD6FC8B7-68A3-005C-490E-5AFBCA3F00C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60EB283-6687-49E1-8750-7615973F99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1394" y="1572985"/>
            <a:ext cx="3825450" cy="401682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D419B03-D9F3-FBB9-BC8F-5A93D0D96C37}"/>
              </a:ext>
            </a:extLst>
          </p:cNvPr>
          <p:cNvSpPr txBox="1"/>
          <p:nvPr/>
        </p:nvSpPr>
        <p:spPr>
          <a:xfrm>
            <a:off x="8839200" y="5715000"/>
            <a:ext cx="30371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Page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BF1D63-D143-AFE9-F419-6EF8671CB4B7}"/>
              </a:ext>
            </a:extLst>
          </p:cNvPr>
          <p:cNvSpPr txBox="1"/>
          <p:nvPr/>
        </p:nvSpPr>
        <p:spPr>
          <a:xfrm>
            <a:off x="1023256" y="1572984"/>
            <a:ext cx="6172201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1. Integrated real-time information such as weather updates, travel alerts, and price changes using external APIs.</a:t>
            </a:r>
          </a:p>
          <a:p>
            <a:pPr>
              <a:buNone/>
            </a:pPr>
            <a:r>
              <a:rPr lang="en-US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2. Enabled dynamic updates on the UI so users can adjust travel plans based on live data.</a:t>
            </a:r>
          </a:p>
        </p:txBody>
      </p:sp>
    </p:spTree>
    <p:extLst>
      <p:ext uri="{BB962C8B-B14F-4D97-AF65-F5344CB8AC3E}">
        <p14:creationId xmlns:p14="http://schemas.microsoft.com/office/powerpoint/2010/main" val="3097606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6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066900" cy="8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b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</a:b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CONCLUSION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95" name="Google Shape;195;p16"/>
          <p:cNvSpPr txBox="1">
            <a:spLocks noGrp="1"/>
          </p:cNvSpPr>
          <p:nvPr>
            <p:ph type="body" idx="1"/>
          </p:nvPr>
        </p:nvSpPr>
        <p:spPr>
          <a:xfrm>
            <a:off x="838200" y="1451156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14350" lvl="0" indent="-514350">
              <a:spcBef>
                <a:spcPts val="0"/>
              </a:spcBef>
              <a:buSzPts val="2800"/>
              <a:buAutoNum type="arabicPeriod"/>
            </a:pPr>
            <a:r>
              <a:rPr lang="en-US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The Dream Trails platform successfully provides a personalized and seamless travel planning experience by integrating AI-powered recommendations, secure bookings, and an intuitive user interface.</a:t>
            </a:r>
          </a:p>
          <a:p>
            <a:pPr marL="514350" lvl="0" indent="-514350">
              <a:spcBef>
                <a:spcPts val="0"/>
              </a:spcBef>
              <a:buSzPts val="2800"/>
              <a:buAutoNum type="arabicPeriod"/>
            </a:pPr>
            <a:endParaRPr lang="en-US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514350" lvl="0" indent="-514350">
              <a:spcBef>
                <a:spcPts val="0"/>
              </a:spcBef>
              <a:buSzPts val="2800"/>
              <a:buAutoNum type="arabicPeriod"/>
            </a:pPr>
            <a:r>
              <a:rPr lang="en-US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With its user-friendly design, real-time assistance, and scalable architecture, the project enhances customer satisfaction and simplifies the entire travel booking process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6" name="Google Shape;19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chemeClr val="dk1"/>
                </a:solidFill>
              </a:rPr>
              <a:t>17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D5D946A-F87E-F27E-855C-E4C0A0D8255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18</a:t>
            </a:fld>
            <a:endParaRPr lang="en-US"/>
          </a:p>
        </p:txBody>
      </p:sp>
      <p:sp>
        <p:nvSpPr>
          <p:cNvPr id="4" name="Google Shape;195;p16">
            <a:extLst>
              <a:ext uri="{FF2B5EF4-FFF2-40B4-BE49-F238E27FC236}">
                <a16:creationId xmlns:a16="http://schemas.microsoft.com/office/drawing/2014/main" id="{78D2A80F-724A-1F40-A719-272AA77363CA}"/>
              </a:ext>
            </a:extLst>
          </p:cNvPr>
          <p:cNvSpPr txBox="1">
            <a:spLocks/>
          </p:cNvSpPr>
          <p:nvPr/>
        </p:nvSpPr>
        <p:spPr>
          <a:xfrm>
            <a:off x="555523" y="1647192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2800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Google Shape;196;p16">
            <a:extLst>
              <a:ext uri="{FF2B5EF4-FFF2-40B4-BE49-F238E27FC236}">
                <a16:creationId xmlns:a16="http://schemas.microsoft.com/office/drawing/2014/main" id="{9DE36BDC-CFEF-197E-EAD3-1359B20BD129}"/>
              </a:ext>
            </a:extLst>
          </p:cNvPr>
          <p:cNvSpPr txBox="1">
            <a:spLocks/>
          </p:cNvSpPr>
          <p:nvPr/>
        </p:nvSpPr>
        <p:spPr>
          <a:xfrm>
            <a:off x="8763000" y="65087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>
                <a:solidFill>
                  <a:schemeClr val="dk1"/>
                </a:solidFill>
              </a:rPr>
              <a:pPr/>
              <a:t>18</a:t>
            </a:fld>
            <a:endParaRPr lang="en-US">
              <a:solidFill>
                <a:schemeClr val="dk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4492DB-5F56-7CBF-4F06-563FDA404B35}"/>
              </a:ext>
            </a:extLst>
          </p:cNvPr>
          <p:cNvSpPr txBox="1"/>
          <p:nvPr/>
        </p:nvSpPr>
        <p:spPr>
          <a:xfrm>
            <a:off x="1137557" y="1638126"/>
            <a:ext cx="1022168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sz="2800" b="1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r>
              <a:rPr lang="en-US" sz="2800" b="1" dirty="0">
                <a:latin typeface="Arial Narrow" panose="020B0606020202030204" pitchFamily="34" charset="0"/>
                <a:cs typeface="Times New Roman" panose="02020603050405020304" pitchFamily="18" charset="0"/>
              </a:rPr>
              <a:t>Add voice-based assistant</a:t>
            </a:r>
            <a:r>
              <a:rPr lang="en-US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 – Include a voice chatbot to help users search and book trips using voice commands.</a:t>
            </a:r>
          </a:p>
          <a:p>
            <a:pPr>
              <a:buFont typeface="+mj-lt"/>
              <a:buAutoNum type="arabicPeriod"/>
            </a:pPr>
            <a:r>
              <a:rPr lang="en-US" sz="2800" b="1" dirty="0">
                <a:latin typeface="Arial Narrow" panose="020B0606020202030204" pitchFamily="34" charset="0"/>
                <a:cs typeface="Times New Roman" panose="02020603050405020304" pitchFamily="18" charset="0"/>
              </a:rPr>
              <a:t>Use real-time weather updates</a:t>
            </a:r>
            <a:r>
              <a:rPr lang="en-US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 – Show live weather information for destinations to help users plan better.</a:t>
            </a:r>
          </a:p>
          <a:p>
            <a:pPr>
              <a:buFont typeface="+mj-lt"/>
              <a:buAutoNum type="arabicPeriod"/>
            </a:pPr>
            <a:r>
              <a:rPr lang="en-US" sz="2800" b="1" dirty="0">
                <a:latin typeface="Arial Narrow" panose="020B0606020202030204" pitchFamily="34" charset="0"/>
                <a:cs typeface="Times New Roman" panose="02020603050405020304" pitchFamily="18" charset="0"/>
              </a:rPr>
              <a:t>Multi-language support</a:t>
            </a:r>
            <a:r>
              <a:rPr lang="en-US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 – Provide the system in different languages so people from various regions can use it easily.</a:t>
            </a:r>
          </a:p>
          <a:p>
            <a:pPr>
              <a:buFont typeface="+mj-lt"/>
              <a:buAutoNum type="arabicPeriod"/>
            </a:pPr>
            <a:r>
              <a:rPr lang="en-US" sz="2800" b="1" dirty="0">
                <a:latin typeface="Arial Narrow" panose="020B0606020202030204" pitchFamily="34" charset="0"/>
                <a:cs typeface="Times New Roman" panose="02020603050405020304" pitchFamily="18" charset="0"/>
              </a:rPr>
              <a:t>Mobile app version</a:t>
            </a:r>
            <a:r>
              <a:rPr lang="en-US" sz="2800" dirty="0">
                <a:latin typeface="Arial Narrow" panose="020B0606020202030204" pitchFamily="34" charset="0"/>
                <a:cs typeface="Times New Roman" panose="02020603050405020304" pitchFamily="18" charset="0"/>
              </a:rPr>
              <a:t> – Develop a mobile app version for easier access and travel planning on the go.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D7C776E-EDAE-3C29-495E-667CEA7A4C55}"/>
              </a:ext>
            </a:extLst>
          </p:cNvPr>
          <p:cNvSpPr txBox="1"/>
          <p:nvPr/>
        </p:nvSpPr>
        <p:spPr>
          <a:xfrm>
            <a:off x="3063648" y="822253"/>
            <a:ext cx="606470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latin typeface="Arial Narrow" panose="020B0606020202030204" pitchFamily="34" charset="0"/>
                <a:cs typeface="Times New Roman" panose="02020603050405020304" pitchFamily="18" charset="0"/>
                <a:sym typeface="Arial Narrow"/>
              </a:rPr>
              <a:t>FUTURE ENHANCEMENTS</a:t>
            </a:r>
            <a:endParaRPr lang="en-US" sz="40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4846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